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4" r:id="rId1"/>
  </p:sldMasterIdLst>
  <p:sldIdLst>
    <p:sldId id="256" r:id="rId2"/>
    <p:sldId id="257" r:id="rId3"/>
    <p:sldId id="261" r:id="rId4"/>
    <p:sldId id="288" r:id="rId5"/>
    <p:sldId id="258" r:id="rId6"/>
    <p:sldId id="262" r:id="rId7"/>
    <p:sldId id="287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89" r:id="rId23"/>
    <p:sldId id="279" r:id="rId24"/>
    <p:sldId id="278" r:id="rId25"/>
    <p:sldId id="285" r:id="rId26"/>
    <p:sldId id="280" r:id="rId27"/>
    <p:sldId id="291" r:id="rId28"/>
    <p:sldId id="282" r:id="rId29"/>
    <p:sldId id="290" r:id="rId30"/>
    <p:sldId id="286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946B"/>
    <a:srgbClr val="6CAF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65" autoAdjust="0"/>
    <p:restoredTop sz="94660"/>
  </p:normalViewPr>
  <p:slideViewPr>
    <p:cSldViewPr snapToGrid="0">
      <p:cViewPr>
        <p:scale>
          <a:sx n="75" d="100"/>
          <a:sy n="75" d="100"/>
        </p:scale>
        <p:origin x="100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6200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891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406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179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570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073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976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5/30/2023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541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011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875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294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8040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36" r:id="rId2"/>
    <p:sldLayoutId id="2147483937" r:id="rId3"/>
    <p:sldLayoutId id="2147483938" r:id="rId4"/>
    <p:sldLayoutId id="2147483939" r:id="rId5"/>
    <p:sldLayoutId id="2147483940" r:id="rId6"/>
    <p:sldLayoutId id="2147483941" r:id="rId7"/>
    <p:sldLayoutId id="2147483942" r:id="rId8"/>
    <p:sldLayoutId id="2147483943" r:id="rId9"/>
    <p:sldLayoutId id="2147483944" r:id="rId10"/>
    <p:sldLayoutId id="214748394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76102" y="956477"/>
            <a:ext cx="8856617" cy="1865100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JOINS AND</a:t>
            </a:r>
            <a:b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BLENDING </a:t>
            </a:r>
          </a:p>
        </p:txBody>
      </p:sp>
    </p:spTree>
    <p:extLst>
      <p:ext uri="{BB962C8B-B14F-4D97-AF65-F5344CB8AC3E}">
        <p14:creationId xmlns:p14="http://schemas.microsoft.com/office/powerpoint/2010/main" val="1632736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905691"/>
          </a:xfrm>
        </p:spPr>
        <p:txBody>
          <a:bodyPr>
            <a:norm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802674"/>
            <a:ext cx="10131425" cy="423236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sz="20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Combining Introduction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Joins in SQL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Joins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 of Joins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Data Blending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Data Blending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Joining vs Blending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Blending Data in Tableau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Data Blending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331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413" y="113211"/>
            <a:ext cx="10131425" cy="931817"/>
          </a:xfrm>
        </p:spPr>
        <p:txBody>
          <a:bodyPr>
            <a:normAutofit fontScale="90000"/>
          </a:bodyPr>
          <a:lstStyle/>
          <a:p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857" y="1828558"/>
            <a:ext cx="10131425" cy="4938002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: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ANSI standard language for all Relational Database Management Systems (RDBMS)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Backbone of all Databases like Oracle, Sybase, DB2, MS SQL, MySQL etc.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RDBMS stores data in the form of  “Tables”, specifically called Relations.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Retrieval Methods: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Table Retrieval:</a:t>
            </a:r>
          </a:p>
          <a:p>
            <a:pPr marL="1885950" lvl="3" indent="-514350">
              <a:buFont typeface="+mj-lt"/>
              <a:buAutoNum type="romanLcPeriod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 : 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condition Data Retrieval (SELECT * FROM &lt;TN&gt; WHERE &lt;CONDITION&gt;)</a:t>
            </a:r>
          </a:p>
          <a:p>
            <a:pPr marL="1885950" lvl="3" indent="-514350">
              <a:buFont typeface="+mj-lt"/>
              <a:buAutoNum type="romanLcPeriod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Projection :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condition  Data Retrieval (SELECT * FROM &lt;TN&gt;)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Multi-table retrieval:</a:t>
            </a:r>
          </a:p>
          <a:p>
            <a:pPr marL="1885950" lvl="3" indent="-514350">
              <a:buFont typeface="+mj-lt"/>
              <a:buAutoNum type="romanLcPeriod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Joins 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Retrieve data from  multiple tables</a:t>
            </a:r>
          </a:p>
          <a:p>
            <a:pPr marL="1771650" lvl="3" indent="-514350">
              <a:buFont typeface="+mj-lt"/>
              <a:buAutoNum type="romanLcPeriod"/>
            </a:pPr>
            <a:endParaRPr lang="en-US" sz="2100" dirty="0"/>
          </a:p>
          <a:p>
            <a:pPr marL="0" indent="0">
              <a:buNone/>
            </a:pPr>
            <a:r>
              <a:rPr lang="en-US" sz="2100" dirty="0"/>
              <a:t> </a:t>
            </a:r>
          </a:p>
          <a:p>
            <a:pPr marL="0" indent="0">
              <a:buNone/>
            </a:pPr>
            <a:r>
              <a:rPr lang="en-US" sz="2100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729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457" y="482547"/>
            <a:ext cx="10058400" cy="1032745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COMBINING INTRODUCTION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often necessary to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multiple places to perform a desired analysis. Data might not be present in a single data table, but rather, spread across multiple tables.</a:t>
            </a:r>
            <a:endParaRPr lang="en-US" sz="22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Depending on the structure of the data and the needs of the analysis there are several ways to combine the tables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Ways to combine data:</a:t>
            </a:r>
          </a:p>
          <a:p>
            <a:pPr marL="1172718" lvl="3" indent="-514350">
              <a:buFont typeface="+mj-lt"/>
              <a:buAutoNum type="romanU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</a:t>
            </a:r>
          </a:p>
          <a:p>
            <a:pPr marL="1172718" lvl="3" indent="-514350">
              <a:buFont typeface="+mj-lt"/>
              <a:buAutoNum type="romanU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Joins</a:t>
            </a:r>
          </a:p>
          <a:p>
            <a:pPr marL="1172718" lvl="3" indent="-514350">
              <a:buFont typeface="+mj-lt"/>
              <a:buAutoNum type="romanU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Union</a:t>
            </a:r>
          </a:p>
          <a:p>
            <a:pPr marL="1172718" lvl="3" indent="-514350">
              <a:buFont typeface="+mj-lt"/>
              <a:buAutoNum type="romanU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Blending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Combining data between two or more tables or sheets within 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Data Source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Joining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Combining data from two or more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sources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Blending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2718" lvl="3" indent="-514350">
              <a:buFont typeface="+mj-lt"/>
              <a:buAutoNum type="romanUcPeriod"/>
            </a:pPr>
            <a:endParaRPr lang="en-US" sz="1800" dirty="0"/>
          </a:p>
          <a:p>
            <a:pPr marL="514350" indent="-514350">
              <a:buFont typeface="+mj-lt"/>
              <a:buAutoNum type="romanU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263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1" y="195941"/>
            <a:ext cx="5858689" cy="1175657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JOINS IN SQL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72738" y="1502228"/>
            <a:ext cx="10131425" cy="4010297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Join is a means for combining fields from two tables by using values common to each table.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SQL Joins clause is used to combine records from two or more tables in a database.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819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SQL Join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65" r="7177"/>
          <a:stretch/>
        </p:blipFill>
        <p:spPr bwMode="auto">
          <a:xfrm>
            <a:off x="5905590" y="1972491"/>
            <a:ext cx="5068389" cy="3892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49" y="178526"/>
            <a:ext cx="10131425" cy="1010194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JOINS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59229" y="1776548"/>
            <a:ext cx="10887891" cy="467650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UcPeriod"/>
            </a:pP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ANSI format joins:</a:t>
            </a:r>
          </a:p>
          <a:p>
            <a:pPr marL="1714500" lvl="3" indent="-457200">
              <a:buFont typeface="+mj-lt"/>
              <a:buAutoNum type="romanU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Inner Join</a:t>
            </a:r>
          </a:p>
          <a:p>
            <a:pPr marL="1714500" lvl="3" indent="-457200">
              <a:buFont typeface="+mj-lt"/>
              <a:buAutoNum type="romanU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Outer Join</a:t>
            </a:r>
          </a:p>
          <a:p>
            <a:pPr marL="2686050" lvl="5" indent="-457200">
              <a:buFont typeface="+mj-lt"/>
              <a:buAutoNum type="romanL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Outer Join</a:t>
            </a:r>
          </a:p>
          <a:p>
            <a:pPr marL="2686050" lvl="5" indent="-457200">
              <a:buFont typeface="+mj-lt"/>
              <a:buAutoNum type="romanL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Outer Join</a:t>
            </a:r>
          </a:p>
          <a:p>
            <a:pPr marL="2686050" lvl="5" indent="-457200">
              <a:buFont typeface="+mj-lt"/>
              <a:buAutoNum type="romanL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Outer Join</a:t>
            </a:r>
          </a:p>
          <a:p>
            <a:pPr marL="1714500" lvl="3" indent="-457200">
              <a:buFont typeface="+mj-lt"/>
              <a:buAutoNum type="romanU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0" lvl="3" indent="-457200">
              <a:buFont typeface="+mj-lt"/>
              <a:buAutoNum type="romanUcPeriod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 Join /Natural Join </a:t>
            </a:r>
          </a:p>
          <a:p>
            <a:pPr marL="1714500" lvl="3" indent="-457200">
              <a:buFont typeface="+mj-lt"/>
              <a:buAutoNum type="romanU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949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823" y="299666"/>
            <a:ext cx="10058400" cy="1450757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JOINS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(CONT’D)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lphaUcPeriod" startAt="2"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Non-ANSI format joins:</a:t>
            </a:r>
          </a:p>
          <a:p>
            <a:pPr marL="1771650" lvl="3" indent="-514350">
              <a:buFont typeface="+mj-lt"/>
              <a:buAutoNum type="romanLcPeriod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 Join</a:t>
            </a:r>
          </a:p>
          <a:p>
            <a:pPr marL="1771650" lvl="3" indent="-514350">
              <a:buFont typeface="+mj-lt"/>
              <a:buAutoNum type="romanLcPeriod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 Equi Join</a:t>
            </a:r>
          </a:p>
          <a:p>
            <a:pPr marL="1771650" lvl="3" indent="-514350">
              <a:buFont typeface="+mj-lt"/>
              <a:buAutoNum type="romanLcPeriod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 Join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168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109220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INNER JOIN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7283" y="1936933"/>
            <a:ext cx="7759700" cy="3840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70776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50158" y="266833"/>
            <a:ext cx="10131425" cy="81280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INNER JOIN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/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: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A.customer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B.Employee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666" y="1937767"/>
            <a:ext cx="7312025" cy="2307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521" y="0"/>
            <a:ext cx="3238500" cy="1566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666" y="4836885"/>
            <a:ext cx="7235970" cy="111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19313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1" y="228600"/>
            <a:ext cx="10131425" cy="1043781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OUTER JOIN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ON: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A.Customer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B.Employee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0848" y="1803604"/>
            <a:ext cx="2905125" cy="178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2024" y="3759200"/>
            <a:ext cx="6962775" cy="218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9186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849" y="1919083"/>
            <a:ext cx="6807200" cy="2642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96659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OUTER JOIN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ON: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A.Customer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B.Employee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0" y="2065867"/>
            <a:ext cx="2867025" cy="181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699" y="4279371"/>
            <a:ext cx="6905625" cy="212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21666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4405" y="1904274"/>
            <a:ext cx="6305550" cy="226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414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OUTER JOIN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A.Customer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B.Employee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4188" y="2065867"/>
            <a:ext cx="2914650" cy="180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9175" y="4089400"/>
            <a:ext cx="6924675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3935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700" y="1993424"/>
            <a:ext cx="6296025" cy="283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64472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DUPLICATES IN JOIN</a:t>
            </a:r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9562" y="1824567"/>
            <a:ext cx="5524500" cy="184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4712" y="3877734"/>
            <a:ext cx="6934200" cy="247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26564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28600"/>
            <a:ext cx="10131425" cy="1456267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INNER JOIN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ON: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A.orderNo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B.orderNo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1800" y="1807634"/>
            <a:ext cx="2867025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426" y="3607859"/>
            <a:ext cx="7428770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6581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3637" y="1928291"/>
            <a:ext cx="6305550" cy="249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7530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15901"/>
            <a:ext cx="10131425" cy="104140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JOINING ON MULTIPLE FIELDS</a:t>
            </a:r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5924" y="2042613"/>
            <a:ext cx="5591175" cy="178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033" y="4045856"/>
            <a:ext cx="7505700" cy="178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064247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5100"/>
            <a:ext cx="10131425" cy="1456267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JOIN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ON: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A.orderno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B.orderno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8763" y="0"/>
            <a:ext cx="2867025" cy="1621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374" y="2185488"/>
            <a:ext cx="7534275" cy="305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2679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JOIN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A.orderno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B.orderno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AND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A.store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B.store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0" y="2232819"/>
            <a:ext cx="2867025" cy="179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972" y="4190471"/>
            <a:ext cx="7000875" cy="178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976049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 OF JOINS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records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number of records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 issue</a:t>
            </a:r>
          </a:p>
        </p:txBody>
      </p:sp>
    </p:spTree>
    <p:extLst>
      <p:ext uri="{BB962C8B-B14F-4D97-AF65-F5344CB8AC3E}">
        <p14:creationId xmlns:p14="http://schemas.microsoft.com/office/powerpoint/2010/main" val="18183767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172" y="413657"/>
            <a:ext cx="9875520" cy="944880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DATA BLENDING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7821" y="1979022"/>
            <a:ext cx="9872871" cy="40386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blending is a method for combining data that supplements a table of data from one data source with columns of data from another data source.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version of left join.</a:t>
            </a:r>
          </a:p>
        </p:txBody>
      </p:sp>
    </p:spTree>
    <p:extLst>
      <p:ext uri="{BB962C8B-B14F-4D97-AF65-F5344CB8AC3E}">
        <p14:creationId xmlns:p14="http://schemas.microsoft.com/office/powerpoint/2010/main" val="34940240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DATA BLENDING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to use Data blending?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Want to combine data from different databases that are not supported by cross-database joins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is at different levels of details (Granularity)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Dealing with large amounts of data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needs some cleaning</a:t>
            </a:r>
          </a:p>
        </p:txBody>
      </p:sp>
    </p:spTree>
    <p:extLst>
      <p:ext uri="{BB962C8B-B14F-4D97-AF65-F5344CB8AC3E}">
        <p14:creationId xmlns:p14="http://schemas.microsoft.com/office/powerpoint/2010/main" val="36890960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949" y="374468"/>
            <a:ext cx="9875520" cy="605246"/>
          </a:xfrm>
        </p:spPr>
        <p:txBody>
          <a:bodyPr>
            <a:no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VS BLEND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495029"/>
              </p:ext>
            </p:extLst>
          </p:nvPr>
        </p:nvGraphicFramePr>
        <p:xfrm>
          <a:off x="746760" y="1407613"/>
          <a:ext cx="9533709" cy="4713568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637903">
                  <a:extLst>
                    <a:ext uri="{9D8B030D-6E8A-4147-A177-3AD203B41FA5}">
                      <a16:colId xmlns:a16="http://schemas.microsoft.com/office/drawing/2014/main" val="2941120338"/>
                    </a:ext>
                  </a:extLst>
                </a:gridCol>
                <a:gridCol w="4820194">
                  <a:extLst>
                    <a:ext uri="{9D8B030D-6E8A-4147-A177-3AD203B41FA5}">
                      <a16:colId xmlns:a16="http://schemas.microsoft.com/office/drawing/2014/main" val="45327768"/>
                    </a:ext>
                  </a:extLst>
                </a:gridCol>
                <a:gridCol w="4075612">
                  <a:extLst>
                    <a:ext uri="{9D8B030D-6E8A-4147-A177-3AD203B41FA5}">
                      <a16:colId xmlns:a16="http://schemas.microsoft.com/office/drawing/2014/main" val="1865913245"/>
                    </a:ext>
                  </a:extLst>
                </a:gridCol>
              </a:tblGrid>
              <a:tr h="499564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GB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JOINING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BLENDING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581656"/>
                  </a:ext>
                </a:extLst>
              </a:tr>
              <a:tr h="1053501"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when the data set is from the same 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when the dataset is from a different data source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1758422"/>
                  </a:ext>
                </a:extLst>
              </a:tr>
              <a:tr h="1053501"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Ability to use different types of join (left join, right join, inner join and full outer join)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only left join.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382111"/>
                  </a:ext>
                </a:extLst>
              </a:tr>
              <a:tr h="1053501"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has to be maintained at the same level of granularity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can be available in different level of granularity.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3480752"/>
                  </a:ext>
                </a:extLst>
              </a:tr>
              <a:tr h="1053501"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Joins data at a row-level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Sends separate query to each dataset, aggregates and then performs blending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3659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59731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172" y="452845"/>
            <a:ext cx="9875520" cy="1356360"/>
          </a:xfrm>
        </p:spPr>
        <p:txBody>
          <a:bodyPr>
            <a:norm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VS BLEND (CONT’D)</a:t>
            </a:r>
            <a:b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BLEND is like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left join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fly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fields with same name are picked up automatically as the blend clause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Blending occurs at the granularity of your view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Aggregation happens before the blend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Blends are unique to each worksheet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5124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06620"/>
          </a:xfrm>
        </p:spPr>
        <p:txBody>
          <a:bodyPr>
            <a:norm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BLENDING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86" t="1" r="23974" b="3015"/>
          <a:stretch/>
        </p:blipFill>
        <p:spPr>
          <a:xfrm>
            <a:off x="3566161" y="1846264"/>
            <a:ext cx="4911634" cy="3901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6711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78972"/>
            <a:ext cx="9875520" cy="957942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DATA BLENDING</a:t>
            </a:r>
            <a:br>
              <a:rPr lang="en-US" dirty="0">
                <a:latin typeface="Algerian" panose="04020705040A02060702" pitchFamily="82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241" y="1965960"/>
            <a:ext cx="10131425" cy="3649133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Blending with Non-Additive Aggregates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Compromises the speed of query in high Granularity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 values appear after blending data sources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 is not available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902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Data Blending technique, data coming from numerous data sources is combined into a single view.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Data Blending  feature in Tableau, we can directly display information in the view by combining different data sources.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Tableau’s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Blending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helps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and source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from multiple data sources and provides relationships, combines data, generates reports easily.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allows businesses to avoid using third party tools and applications to connect and source data from various enterprise systems. This saves effort and time for businesses.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blending feature allows businesses to gain deeper intelligence information from enterprise data.</a:t>
            </a:r>
          </a:p>
        </p:txBody>
      </p:sp>
    </p:spTree>
    <p:extLst>
      <p:ext uri="{BB962C8B-B14F-4D97-AF65-F5344CB8AC3E}">
        <p14:creationId xmlns:p14="http://schemas.microsoft.com/office/powerpoint/2010/main" val="3411591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937" y="1122771"/>
            <a:ext cx="10515600" cy="2992029"/>
          </a:xfrm>
          <a:scene3d>
            <a:camera prst="obliqueTopRight"/>
            <a:lightRig rig="threePt" dir="t"/>
          </a:scene3d>
          <a:sp3d>
            <a:bevelT w="165100" prst="coolSlant"/>
          </a:sp3d>
        </p:spPr>
        <p:txBody>
          <a:bodyPr>
            <a:normAutofit/>
          </a:bodyPr>
          <a:lstStyle/>
          <a:p>
            <a:r>
              <a:rPr lang="en-GB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br>
              <a:rPr lang="en-GB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Questions?</a:t>
            </a:r>
            <a:endParaRPr lang="en-US" sz="1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48830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1683</TotalTime>
  <Words>828</Words>
  <Application>Microsoft Office PowerPoint</Application>
  <PresentationFormat>Widescreen</PresentationFormat>
  <Paragraphs>116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Algerian</vt:lpstr>
      <vt:lpstr>Calibri</vt:lpstr>
      <vt:lpstr>Calibri Light</vt:lpstr>
      <vt:lpstr>Times New Roman</vt:lpstr>
      <vt:lpstr>Wingdings</vt:lpstr>
      <vt:lpstr>Retrospect</vt:lpstr>
      <vt:lpstr>JOINS AND  DATA BLENDING </vt:lpstr>
      <vt:lpstr>AGENDA</vt:lpstr>
      <vt:lpstr> INTRODUCTION </vt:lpstr>
      <vt:lpstr>DATA COMBINING INTRODUCTION </vt:lpstr>
      <vt:lpstr>   JOINS IN SQL </vt:lpstr>
      <vt:lpstr>TYPES OF JOINS </vt:lpstr>
      <vt:lpstr>TYPES OF JOINS (CONT’D) </vt:lpstr>
      <vt:lpstr>INNER JOIN </vt:lpstr>
      <vt:lpstr>INNER JOIN  on : A.customer=B.Employee</vt:lpstr>
      <vt:lpstr>LEFT OUTER JOIN ON: A.Customer=B.Employee</vt:lpstr>
      <vt:lpstr>PowerPoint Presentation</vt:lpstr>
      <vt:lpstr>RIGHT OUTER JOIN ON: A.Customer=B.Employee</vt:lpstr>
      <vt:lpstr>PowerPoint Presentation</vt:lpstr>
      <vt:lpstr>FULL OUTER JOIN ON: A.Customer=B.Employee</vt:lpstr>
      <vt:lpstr>PowerPoint Presentation</vt:lpstr>
      <vt:lpstr>DUPLICATES IN JOIN</vt:lpstr>
      <vt:lpstr>INNER JOIN ON: A.orderNo=B.orderNo</vt:lpstr>
      <vt:lpstr>PowerPoint Presentation</vt:lpstr>
      <vt:lpstr>JOINING ON MULTIPLE FIELDS</vt:lpstr>
      <vt:lpstr>LEFT JOIN ON: A.orderno=B.orderno</vt:lpstr>
      <vt:lpstr>LEFT JOIN ON: A.orderno=B.orderno  AND  A.store=B.store</vt:lpstr>
      <vt:lpstr>DRAWBACKS OF JOINS </vt:lpstr>
      <vt:lpstr>INTRODUCTION TO DATA BLENDING </vt:lpstr>
      <vt:lpstr>OBJECTIVE OF DATA BLENDING </vt:lpstr>
      <vt:lpstr>JOIN VS BLEND</vt:lpstr>
      <vt:lpstr>JOIN VS BLEND (CONT’D) </vt:lpstr>
      <vt:lpstr>DATA BLENDING</vt:lpstr>
      <vt:lpstr>LIMITATIONS OF DATA BLENDING </vt:lpstr>
      <vt:lpstr>CONCLUSION</vt:lpstr>
      <vt:lpstr>Thank You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JOINS AND DATA Blending</dc:title>
  <dc:creator>Radhika</dc:creator>
  <cp:lastModifiedBy>Swapnajeet</cp:lastModifiedBy>
  <cp:revision>68</cp:revision>
  <dcterms:created xsi:type="dcterms:W3CDTF">2021-03-07T10:22:13Z</dcterms:created>
  <dcterms:modified xsi:type="dcterms:W3CDTF">2023-05-30T13:42:47Z</dcterms:modified>
  <cp:contentStatus/>
</cp:coreProperties>
</file>